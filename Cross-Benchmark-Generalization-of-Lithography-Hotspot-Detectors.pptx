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6" r:id="rId6"/>
    <p:sldId id="259" r:id="rId7"/>
    <p:sldId id="264" r:id="rId8"/>
    <p:sldId id="265" r:id="rId9"/>
    <p:sldId id="260" r:id="rId10"/>
    <p:sldId id="261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53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5405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Cross-Benchmark Generalization of Lithography Hotspot Detectors</a:t>
            </a:r>
            <a:endParaRPr lang="en-US" sz="37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3421955"/>
            <a:ext cx="10868745" cy="16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Madhumitha M (24BVD1068) </a:t>
            </a:r>
            <a:endParaRPr lang="en-US" dirty="0">
              <a:latin typeface="+mj-lt"/>
            </a:endParaRPr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 Katakam Shrihita (24BVD1069)</a:t>
            </a:r>
            <a:endParaRPr lang="en-US" dirty="0">
              <a:latin typeface="+mj-lt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 Dinesh Kumar M (24BVD1060) 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429" y="47292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37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Core Problem: Cross-Benchmark Generalization</a:t>
            </a:r>
            <a:endParaRPr lang="en-US" sz="20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91322"/>
            <a:ext cx="5319083" cy="1605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200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Lithography hotspot detectors trained on a single benchmark consistently fail when applied to unseen design rules, process nodes, or layout conventions — making robust cross-benchmark transfer a critical unsolved challenge.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950813"/>
            <a:ext cx="5319083" cy="5319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2" y="2848471"/>
            <a:ext cx="5541678" cy="8957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5430" y="2853383"/>
            <a:ext cx="33263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1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Domain Shift</a:t>
            </a:r>
            <a:endParaRPr lang="en-US" sz="2000" dirty="0"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655430" y="3208528"/>
            <a:ext cx="5498290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Performance degrades across ICCAD, OpenROAD, and proprietary benchmarks due to incompatible layout distributions.</a:t>
            </a:r>
            <a:endParaRPr lang="en-US" sz="1400" dirty="0">
              <a:latin typeface="+mj-lt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2" y="3839785"/>
            <a:ext cx="5541678" cy="8957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6" y="3894751"/>
            <a:ext cx="3796610" cy="16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1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Design Rule Mismatch</a:t>
            </a:r>
            <a:endParaRPr lang="en-US" dirty="0">
              <a:latin typeface="+mj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55429" y="4233846"/>
            <a:ext cx="5440571" cy="57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Detectors overfit to process-node-specific patterns and fail on unseen spacing and density constraints</a:t>
            </a:r>
            <a:r>
              <a:rPr lang="en-US" sz="7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.</a:t>
            </a:r>
            <a:endParaRPr lang="en-US" sz="700" dirty="0">
              <a:latin typeface="+mj-lt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2" y="4858215"/>
            <a:ext cx="5541678" cy="8957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6" y="4933478"/>
            <a:ext cx="33263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1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Feature Specificity</a:t>
            </a:r>
            <a:endParaRPr lang="en-US" dirty="0">
              <a:latin typeface="+mj-l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55429" y="5251997"/>
            <a:ext cx="5434524" cy="549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Benchmark-tuned feature encoders learn non-transferable representations, yielding high cross-domain error rates.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83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Baseline Model Architecture</a:t>
            </a:r>
            <a:endParaRPr lang="en-US" sz="370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68190"/>
            <a:ext cx="5202603" cy="18046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31585" y="2201763"/>
            <a:ext cx="1296955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44990" y="2258417"/>
            <a:ext cx="16797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BASELINE CNN</a:t>
            </a:r>
            <a:endParaRPr lang="en-US" sz="115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31585" y="2564507"/>
            <a:ext cx="520488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Architecture Summary</a:t>
            </a:r>
            <a:endParaRPr lang="en-US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31585" y="3060601"/>
            <a:ext cx="520488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A compact 3-layer convolutional backbone feeds directly into a fully connected binary classifier. Lightweight and fast, but fundamentally limited in cross-domain transfer.</a:t>
            </a:r>
            <a:endParaRPr lang="en-US" sz="1600" dirty="0">
              <a:latin typeface="+mj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4513858"/>
            <a:ext cx="5339820" cy="15863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7479" y="4728270"/>
            <a:ext cx="48094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In-Domain Performance</a:t>
            </a:r>
            <a:endParaRPr lang="en-US" b="1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77479" y="5148759"/>
            <a:ext cx="480940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Achieves 87% accuracy when trained and evaluated on the same benchmark distribution.</a:t>
            </a:r>
            <a:endParaRPr lang="en-US" sz="1600" dirty="0">
              <a:latin typeface="+mj-lt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513858"/>
            <a:ext cx="5339919" cy="15863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6305" y="4728270"/>
            <a:ext cx="48095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Cross-Domain Failure</a:t>
            </a:r>
            <a:endParaRPr lang="en-US" dirty="0">
              <a:latin typeface="+mj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506305" y="5148759"/>
            <a:ext cx="480950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Accuracy collapses to 62% on unseen benchmarks — the model learns benchmark-specific shortcuts, not generalizable hotspot semantics.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A3D4FE-2327-5D3A-0F15-A3291CC3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041"/>
          <a:stretch>
            <a:fillRect/>
          </a:stretch>
        </p:blipFill>
        <p:spPr>
          <a:xfrm>
            <a:off x="-1" y="-12346"/>
            <a:ext cx="12192001" cy="687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8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EA7763-1CA2-DFF7-B00A-4CE248F5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2"/>
          <a:stretch>
            <a:fillRect/>
          </a:stretch>
        </p:blipFill>
        <p:spPr>
          <a:xfrm>
            <a:off x="0" y="-12345"/>
            <a:ext cx="12192000" cy="2351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669E71-FF10-63DF-C5E4-9948D5C09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8948"/>
            <a:ext cx="12192000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1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129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0" spc="-67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Advanced Model Architecture</a:t>
            </a:r>
            <a:endParaRPr lang="en-US" sz="32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8149" y="1344513"/>
            <a:ext cx="4907733" cy="4958259"/>
          </a:xfrm>
          <a:prstGeom prst="roundRect">
            <a:avLst>
              <a:gd name="adj" fmla="val 2513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09396" y="1499691"/>
            <a:ext cx="456523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34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Key Design Principles</a:t>
            </a:r>
            <a:endParaRPr lang="en-US" sz="2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3639" y="1978323"/>
            <a:ext cx="25687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4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164" y="1978323"/>
            <a:ext cx="1645105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4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Adversarial Training</a:t>
            </a:r>
            <a:endParaRPr lang="en-US" sz="16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30511" y="2517279"/>
            <a:ext cx="1864522" cy="189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Domain-invariant feature extraction via gradient reversal — forces the encoder to learn representations indistinguishable across benchmarks.</a:t>
            </a:r>
            <a:endParaRPr lang="en-US" sz="16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53242" y="1978323"/>
            <a:ext cx="25687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4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31180" y="1978323"/>
            <a:ext cx="1645105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4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Multi-Scale Receptive Fields</a:t>
            </a:r>
            <a:endParaRPr lang="en-US" sz="16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0113" y="2562721"/>
            <a:ext cx="1887240" cy="189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Parallel convolution branches capture local edge patterns and global density structures simultaneously for robust pattern coverage.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3639" y="5030192"/>
            <a:ext cx="25687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4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2164" y="5031211"/>
            <a:ext cx="4024708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4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Attention Suppression</a:t>
            </a:r>
            <a:endParaRPr lang="en-US" sz="16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2163" y="5364162"/>
            <a:ext cx="4124121" cy="83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Spatial attention gates down-weight benchmark-specific noise, focusing activations on transferable lithographic risk features.</a:t>
            </a:r>
            <a:endParaRPr lang="en-US" sz="1600" dirty="0"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2DC258-81E2-8430-F506-EBE5D874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28"/>
          <a:stretch>
            <a:fillRect/>
          </a:stretch>
        </p:blipFill>
        <p:spPr>
          <a:xfrm>
            <a:off x="5566949" y="1978323"/>
            <a:ext cx="6462806" cy="3052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105F2-8D3A-9A8E-1246-A9B226508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88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574E7-E805-3A63-DB30-85006641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8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491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Class Imbalance &amp; Training Strategy</a:t>
            </a:r>
            <a:endParaRPr lang="en-US" sz="365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19845"/>
            <a:ext cx="4075209" cy="3279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05499"/>
            <a:ext cx="407520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ea typeface="Geist Bold" pitchFamily="34" charset="-122"/>
                <a:cs typeface="Geist Bold" pitchFamily="34" charset="-120"/>
              </a:rPr>
              <a:t>~99% safe vs. ~1% hotspots</a:t>
            </a:r>
            <a:r>
              <a:rPr lang="en-US" sz="145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 — extreme minority class challenge.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6849" y="1597025"/>
            <a:ext cx="6339721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Mitigation Strategies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849" y="2105323"/>
            <a:ext cx="930252" cy="13373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10254" y="2291358"/>
            <a:ext cx="522631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Feature Alignment</a:t>
            </a:r>
            <a:endParaRPr lang="en-US" sz="180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10254" y="2776835"/>
            <a:ext cx="522631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Aligning latent representation distributions across distinct ICCAD benchmark datasets.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849" y="3442692"/>
            <a:ext cx="930252" cy="13373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10254" y="3628727"/>
            <a:ext cx="522631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Benchmark Invariance</a:t>
            </a:r>
            <a:endParaRPr lang="en-US" sz="180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310254" y="4114205"/>
            <a:ext cx="522631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Forcing the network to learn lithographic failure physics rather than benchmark-specific design rule shortcuts.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849" y="4780062"/>
            <a:ext cx="930252" cy="13373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0254" y="4966097"/>
            <a:ext cx="522631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Evaluation Protocol</a:t>
            </a:r>
            <a:endParaRPr lang="en-US" sz="1800" dirty="0">
              <a:latin typeface="+mj-lt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10254" y="5451574"/>
            <a:ext cx="522631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Training on Source Benchmark (e.g., ICCAD-12) and evaluating directly on unseen Target Benchmark (e.g., ICCAD-15).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38518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37" dirty="0">
                <a:solidFill>
                  <a:srgbClr val="F2F5FA"/>
                </a:solidFill>
                <a:latin typeface="+mj-lt"/>
                <a:ea typeface="Geist Bold" pitchFamily="34" charset="-122"/>
                <a:cs typeface="Geist Bold" pitchFamily="34" charset="-120"/>
              </a:rPr>
              <a:t>Experimental Results &amp; Generalization Metrics</a:t>
            </a:r>
            <a:endParaRPr lang="en-US" sz="2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968573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4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84.68%</a:t>
            </a:r>
            <a:endParaRPr lang="en-US" sz="245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363067"/>
            <a:ext cx="358349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19" dirty="0">
                <a:solidFill>
                  <a:srgbClr val="EBEDF0"/>
                </a:solidFill>
                <a:ea typeface="Geist Bold" pitchFamily="34" charset="-122"/>
                <a:cs typeface="Geist Bold" pitchFamily="34" charset="-120"/>
              </a:rPr>
              <a:t>Baseline In-Domain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544935"/>
            <a:ext cx="358349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800" dirty="0">
                <a:solidFill>
                  <a:srgbClr val="EBEDF0"/>
                </a:solidFill>
                <a:ea typeface="Geist" pitchFamily="34" charset="-122"/>
                <a:cs typeface="Geist" pitchFamily="34" charset="-120"/>
              </a:rPr>
              <a:t>Accuracy on same-benchmark test split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04002" y="968573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4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60.80%</a:t>
            </a:r>
            <a:endParaRPr lang="en-US" sz="245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04002" y="1363067"/>
            <a:ext cx="35835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ea typeface="Geist Bold" pitchFamily="34" charset="-122"/>
                <a:cs typeface="Geist Bold" pitchFamily="34" charset="-120"/>
              </a:rPr>
              <a:t>Baseline Cross-Bench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46628" y="968573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4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88.45%</a:t>
            </a:r>
            <a:endParaRPr lang="en-US" sz="245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46628" y="1363067"/>
            <a:ext cx="358349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19" dirty="0">
                <a:solidFill>
                  <a:srgbClr val="EBEDF0"/>
                </a:solidFill>
                <a:ea typeface="Geist Bold" pitchFamily="34" charset="-122"/>
                <a:cs typeface="Geist Bold" pitchFamily="34" charset="-120"/>
              </a:rPr>
              <a:t>Advanced In-Domain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46628" y="1544935"/>
            <a:ext cx="358349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+mj-lt"/>
                <a:ea typeface="Geist" pitchFamily="34" charset="-122"/>
                <a:cs typeface="Geist" pitchFamily="34" charset="-120"/>
              </a:rPr>
              <a:t>Marginal in-domain gain with domain-invariant training</a:t>
            </a:r>
            <a:endParaRPr lang="en-US" sz="8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04002" y="1778794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49" dirty="0">
                <a:solidFill>
                  <a:srgbClr val="EBEDF0"/>
                </a:solidFill>
                <a:latin typeface="+mj-lt"/>
                <a:ea typeface="Geist Bold" pitchFamily="34" charset="-122"/>
                <a:cs typeface="Geist Bold" pitchFamily="34" charset="-120"/>
              </a:rPr>
              <a:t>79.62%</a:t>
            </a:r>
            <a:endParaRPr lang="en-US" sz="245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04002" y="2173288"/>
            <a:ext cx="35835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19" dirty="0">
                <a:solidFill>
                  <a:srgbClr val="EBEDF0"/>
                </a:solidFill>
                <a:ea typeface="Geist Bold" pitchFamily="34" charset="-122"/>
                <a:cs typeface="Geist Bold" pitchFamily="34" charset="-120"/>
              </a:rPr>
              <a:t>Advanced Cross-Bench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8710910"/>
            <a:ext cx="118067" cy="944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3CD784-A2C7-9DEE-B08D-6824DDD8D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789" y="2496809"/>
            <a:ext cx="9144018" cy="4068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3FA293-AE12-E99E-0215-F9CD32483875}"/>
              </a:ext>
            </a:extLst>
          </p:cNvPr>
          <p:cNvSpPr txBox="1"/>
          <p:nvPr/>
        </p:nvSpPr>
        <p:spPr>
          <a:xfrm>
            <a:off x="733245" y="422694"/>
            <a:ext cx="2154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81EF4-C352-895F-6FEB-7DC0D5946054}"/>
              </a:ext>
            </a:extLst>
          </p:cNvPr>
          <p:cNvSpPr txBox="1"/>
          <p:nvPr/>
        </p:nvSpPr>
        <p:spPr>
          <a:xfrm>
            <a:off x="5529532" y="23722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2979BB-07E7-0714-1490-3A26146D1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03545"/>
              </p:ext>
            </p:extLst>
          </p:nvPr>
        </p:nvGraphicFramePr>
        <p:xfrm>
          <a:off x="838200" y="1122947"/>
          <a:ext cx="105156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331870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74895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8378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Metric / Aspect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Baseline CNN JPG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Improved Model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725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In-Domain Accuracy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/>
                        <a:t>65.58%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/>
                        <a:t>69.16%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62699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Cross-Benchmark Accuracy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/>
                        <a:t>60.80</a:t>
                      </a:r>
                      <a:r>
                        <a:rPr lang="en-IN"/>
                        <a:t>% (</a:t>
                      </a:r>
                      <a:r>
                        <a:rPr lang="en-IN">
                          <a:effectLst/>
                        </a:rPr>
                        <a:t>Collapses </a:t>
                      </a:r>
                      <a:r>
                        <a:rPr lang="en-IN" dirty="0">
                          <a:effectLst/>
                        </a:rPr>
                        <a:t>on unseen benchmarks)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/>
                        <a:t>64.49% </a:t>
                      </a:r>
                      <a:r>
                        <a:rPr lang="en-IN" dirty="0">
                          <a:effectLst/>
                        </a:rPr>
                        <a:t>(Maintains performance)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9122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Domain Adaptation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Overfits to benchmark-specific design shortcuts 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Learns invariant lithographic failure physics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457366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C676AF-5D3C-83C8-63A8-ACD6C714AD26}"/>
              </a:ext>
            </a:extLst>
          </p:cNvPr>
          <p:cNvSpPr txBox="1"/>
          <p:nvPr/>
        </p:nvSpPr>
        <p:spPr>
          <a:xfrm>
            <a:off x="733245" y="3804250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Standard CNNs fail under domain shift (dropping from 87% to 62%). Our improved architecture eliminates this cross-benchmark performance drop, making it practical for real-world unseen chip layouts</a:t>
            </a:r>
          </a:p>
        </p:txBody>
      </p:sp>
    </p:spTree>
    <p:extLst>
      <p:ext uri="{BB962C8B-B14F-4D97-AF65-F5344CB8AC3E}">
        <p14:creationId xmlns:p14="http://schemas.microsoft.com/office/powerpoint/2010/main" val="188876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440</Words>
  <Application>Microsoft Office PowerPoint</Application>
  <PresentationFormat>Widescreen</PresentationFormat>
  <Paragraphs>72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 Light</vt:lpstr>
      <vt:lpstr>Geist</vt:lpstr>
      <vt:lpstr>Geist Bold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MADHUMITHAMADAN</dc:creator>
  <cp:lastModifiedBy>Madhumitha M</cp:lastModifiedBy>
  <cp:revision>7</cp:revision>
  <dcterms:created xsi:type="dcterms:W3CDTF">2026-09-20T11:06:39Z</dcterms:created>
  <dcterms:modified xsi:type="dcterms:W3CDTF">2026-09-20T15:39:15Z</dcterms:modified>
</cp:coreProperties>
</file>